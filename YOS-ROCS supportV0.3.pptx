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5.xml" ContentType="application/vnd.openxmlformats-officedocument.theme+xml"/>
  <Override PartName="/ppt/tags/tag4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0" r:id="rId5"/>
    <p:sldMasterId id="2147483673" r:id="rId6"/>
    <p:sldMasterId id="2147483682" r:id="rId7"/>
  </p:sldMasterIdLst>
  <p:notesMasterIdLst>
    <p:notesMasterId r:id="rId13"/>
  </p:notesMasterIdLst>
  <p:sldIdLst>
    <p:sldId id="2147376971" r:id="rId8"/>
    <p:sldId id="2147376976" r:id="rId9"/>
    <p:sldId id="2147376973" r:id="rId10"/>
    <p:sldId id="2147376967" r:id="rId11"/>
    <p:sldId id="2147376974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1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6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00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D6AB3-1FC3-40EB-A3B6-64928D3773A9}" type="datetimeFigureOut">
              <a:rPr lang="en-NL" smtClean="0"/>
              <a:t>03/13/2023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F964A-1E4B-472C-9157-B9D4B23DA4E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315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D9DF4-3403-A94A-BB37-A67524CF1F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965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0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2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3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4.bin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09646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314769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610940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5192186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022822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380FB21-9D9B-497C-8ACE-CAB5A7B1B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20E67264-9254-4091-A2AB-5B163E80A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A0E2D52-38C2-4A92-AB2E-1D36261B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6446624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ull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5787540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2B89CC6-1B03-43C4-93B6-EB0390C6E1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331DDF26-AC0D-4B9C-9165-450D657C69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27BD0A9-7AE8-4DF7-83A7-47D168F861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F5EFE8D9-EE96-4968-9326-7D2C49C41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78E7DDEE-2F01-4B99-AB31-46531441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899073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2069427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FF86774-3475-47A4-A191-EECF28E53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EEFEA76-A4C1-4072-9237-7ACDDF1D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2903674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2553333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0258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741594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 rtl="0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308084875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LC_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4771975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7805" y="1530073"/>
            <a:ext cx="11444400" cy="4670702"/>
          </a:xfrm>
        </p:spPr>
        <p:txBody>
          <a:bodyPr/>
          <a:lstStyle>
            <a:lvl1pPr rtl="0">
              <a:defRPr sz="1600">
                <a:solidFill>
                  <a:schemeClr val="tx1"/>
                </a:solidFill>
                <a:latin typeface="+mj-lt"/>
              </a:defRPr>
            </a:lvl1pPr>
            <a:lvl2pPr rtl="0">
              <a:defRPr sz="1600">
                <a:solidFill>
                  <a:schemeClr val="tx1"/>
                </a:solidFill>
                <a:latin typeface="+mj-lt"/>
              </a:defRPr>
            </a:lvl2pPr>
            <a:lvl3pPr rtl="0">
              <a:defRPr sz="1600">
                <a:solidFill>
                  <a:schemeClr val="tx1"/>
                </a:solidFill>
                <a:latin typeface="+mj-lt"/>
              </a:defRPr>
            </a:lvl3pPr>
            <a:lvl4pPr rtl="0">
              <a:defRPr sz="1600">
                <a:solidFill>
                  <a:schemeClr val="tx1"/>
                </a:solidFill>
                <a:latin typeface="+mj-lt"/>
              </a:defRPr>
            </a:lvl4pPr>
            <a:lvl5pPr rtl="0"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36401"/>
            <a:ext cx="11453813" cy="269485"/>
          </a:xfrm>
        </p:spPr>
        <p:txBody>
          <a:bodyPr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800" kern="12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05" y="305252"/>
            <a:ext cx="11444400" cy="853200"/>
          </a:xfrm>
        </p:spPr>
        <p:txBody>
          <a:bodyPr vert="horz" anchor="t"/>
          <a:lstStyle>
            <a:lvl1pPr rtl="0">
              <a:defRPr sz="2800"/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7805" y="1166813"/>
            <a:ext cx="11444400" cy="282575"/>
          </a:xfr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7063F3F-9042-432C-AABE-CDB16979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705" y="6416706"/>
            <a:ext cx="457201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700">
                <a:solidFill>
                  <a:schemeClr val="bg2"/>
                </a:solidFill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12A2C2-3C80-4722-A14E-FE97670DF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4695" y="6416706"/>
            <a:ext cx="1901952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rgbClr val="636669"/>
                </a:solidFill>
                <a:latin typeface="Arial" panose="020B0604020202020204"/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solidFill>
                <a:srgbClr val="63666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745346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36C-4023-45A3-847F-286617774601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2E6B-00B6-F840-9643-4D74B9E7D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9585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255337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FedEx Sans"/>
              </a:defRPr>
            </a:lvl1pPr>
            <a:lvl2pPr>
              <a:defRPr sz="1400">
                <a:solidFill>
                  <a:schemeClr val="tx1"/>
                </a:solidFill>
                <a:latin typeface="FedEx Sans"/>
              </a:defRPr>
            </a:lvl2pPr>
            <a:lvl3pPr>
              <a:defRPr sz="1400">
                <a:solidFill>
                  <a:schemeClr val="tx1"/>
                </a:solidFill>
                <a:latin typeface="FedEx Sans"/>
              </a:defRPr>
            </a:lvl3pPr>
            <a:lvl4pPr>
              <a:defRPr sz="1400">
                <a:solidFill>
                  <a:schemeClr val="tx1"/>
                </a:solidFill>
                <a:latin typeface="FedEx Sans"/>
              </a:defRPr>
            </a:lvl4pPr>
            <a:lvl5pPr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 dirty="0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714267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7503795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7444347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380FB21-9D9B-497C-8ACE-CAB5A7B1B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20E67264-9254-4091-A2AB-5B163E80A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A0E2D52-38C2-4A92-AB2E-1D36261B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2532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ull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2B89CC6-1B03-43C4-93B6-EB0390C6E1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331DDF26-AC0D-4B9C-9165-450D657C69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27BD0A9-7AE8-4DF7-83A7-47D168F861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F5EFE8D9-EE96-4968-9326-7D2C49C41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78E7DDEE-2F01-4B99-AB31-46531441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7492608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FF86774-3475-47A4-A191-EECF28E53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EEFEA76-A4C1-4072-9237-7ACDDF1D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5160303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8128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 rtl="0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5269087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LC_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7805" y="1530073"/>
            <a:ext cx="11444400" cy="4670702"/>
          </a:xfrm>
        </p:spPr>
        <p:txBody>
          <a:bodyPr/>
          <a:lstStyle>
            <a:lvl1pPr rtl="0">
              <a:defRPr sz="1600">
                <a:solidFill>
                  <a:schemeClr val="tx1"/>
                </a:solidFill>
                <a:latin typeface="+mj-lt"/>
              </a:defRPr>
            </a:lvl1pPr>
            <a:lvl2pPr rtl="0">
              <a:defRPr sz="1600">
                <a:solidFill>
                  <a:schemeClr val="tx1"/>
                </a:solidFill>
                <a:latin typeface="+mj-lt"/>
              </a:defRPr>
            </a:lvl2pPr>
            <a:lvl3pPr rtl="0">
              <a:defRPr sz="1600">
                <a:solidFill>
                  <a:schemeClr val="tx1"/>
                </a:solidFill>
                <a:latin typeface="+mj-lt"/>
              </a:defRPr>
            </a:lvl3pPr>
            <a:lvl4pPr rtl="0">
              <a:defRPr sz="1600">
                <a:solidFill>
                  <a:schemeClr val="tx1"/>
                </a:solidFill>
                <a:latin typeface="+mj-lt"/>
              </a:defRPr>
            </a:lvl4pPr>
            <a:lvl5pPr rtl="0"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36401"/>
            <a:ext cx="11453813" cy="269485"/>
          </a:xfrm>
        </p:spPr>
        <p:txBody>
          <a:bodyPr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800" kern="12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05" y="305252"/>
            <a:ext cx="11444400" cy="853200"/>
          </a:xfrm>
        </p:spPr>
        <p:txBody>
          <a:bodyPr vert="horz" anchor="t"/>
          <a:lstStyle>
            <a:lvl1pPr rtl="0">
              <a:defRPr sz="2800"/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7805" y="1166813"/>
            <a:ext cx="11444400" cy="282575"/>
          </a:xfr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7063F3F-9042-432C-AABE-CDB16979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705" y="6416706"/>
            <a:ext cx="457201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700">
                <a:solidFill>
                  <a:schemeClr val="bg2"/>
                </a:solidFill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12A2C2-3C80-4722-A14E-FE97670DF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4695" y="6416706"/>
            <a:ext cx="1901952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rgbClr val="636669"/>
                </a:solidFill>
                <a:latin typeface="Arial" panose="020B0604020202020204"/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solidFill>
                <a:srgbClr val="63666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8241979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FedEx Sans"/>
              </a:defRPr>
            </a:lvl1pPr>
            <a:lvl2pPr>
              <a:defRPr sz="1400">
                <a:solidFill>
                  <a:schemeClr val="tx1"/>
                </a:solidFill>
                <a:latin typeface="FedEx Sans"/>
              </a:defRPr>
            </a:lvl2pPr>
            <a:lvl3pPr>
              <a:defRPr sz="1400">
                <a:solidFill>
                  <a:schemeClr val="tx1"/>
                </a:solidFill>
                <a:latin typeface="FedEx Sans"/>
              </a:defRPr>
            </a:lvl3pPr>
            <a:lvl4pPr>
              <a:defRPr sz="1400">
                <a:solidFill>
                  <a:schemeClr val="tx1"/>
                </a:solidFill>
                <a:latin typeface="FedEx Sans"/>
              </a:defRPr>
            </a:lvl4pPr>
            <a:lvl5pPr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9437624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4438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117183202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9FAE25-9B3C-4B87-BC98-70AB88EFF6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27003" y="1539351"/>
            <a:ext cx="2334409" cy="43957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0B760-A1A4-4C73-AAA8-5D5FBCB19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675" y="6571488"/>
            <a:ext cx="1901952" cy="20116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2"/>
                </a:solidFill>
              </a:rPr>
              <a:t>FedEx Proprietary and Confidential 2021 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E9C6511C-5A07-4571-976E-37BDA10164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382125" y="6407531"/>
            <a:ext cx="2743200" cy="365125"/>
          </a:xfrm>
        </p:spPr>
        <p:txBody>
          <a:bodyPr/>
          <a:lstStyle/>
          <a:p>
            <a:pPr>
              <a:defRPr/>
            </a:pPr>
            <a:fld id="{583AEE58-AB03-4533-B7B8-6311303442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94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24.xml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2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slideLayout" Target="../slideLayouts/slideLayout21.xml"/><Relationship Id="rId7" Type="http://schemas.openxmlformats.org/officeDocument/2006/relationships/tags" Target="../tags/tag4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41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4653012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4" imgH="595" progId="TCLayout.ActiveDocument.1">
                  <p:embed/>
                </p:oleObj>
              </mc:Choice>
              <mc:Fallback>
                <p:oleObj name="think-cell Slide" r:id="rId13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2022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3467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87" r:id="rId9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619485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4" imgH="595" progId="TCLayout.ActiveDocument.1">
                  <p:embed/>
                </p:oleObj>
              </mc:Choice>
              <mc:Fallback>
                <p:oleObj name="think-cell Slide" r:id="rId5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2021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6110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594" imgH="595" progId="TCLayout.ActiveDocument.1">
                  <p:embed/>
                </p:oleObj>
              </mc:Choice>
              <mc:Fallback>
                <p:oleObj name="think-cell Slide" r:id="rId12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800" b="0" i="0" baseline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dirty="0">
                <a:ea typeface="Arial" charset="0"/>
                <a:cs typeface="Arial" charset="0"/>
              </a:rPr>
              <a:t>FedEx Proprietary and Confidential 2022 </a:t>
            </a:r>
            <a:endParaRPr lang="en-US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470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4" imgH="595" progId="TCLayout.ActiveDocument.1">
                  <p:embed/>
                </p:oleObj>
              </mc:Choice>
              <mc:Fallback>
                <p:oleObj name="think-cell Slide" r:id="rId8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478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9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5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fedex-my.sharepoint.com/:x:/g/personal/paul_blom_fedex_com/EfqhNcWWQLxIq3sga-VnrRgBXz-oPRNfZEFl1LN0HiHEGQ?email=cdekesel%40fedex.com&amp;e=NhBJjH" TargetMode="External"/><Relationship Id="rId2" Type="http://schemas.openxmlformats.org/officeDocument/2006/relationships/hyperlink" Target="https://myfedex-my.sharepoint.com/:x:/g/personal/paul_blom_fedex_com/ETsTk_CfX0lCnGF6NEh4csgBuESd_CoerSzPa7bWTA4nfw?email=cdekesel%40fedex.com&amp;e=nhRUEy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pdsm.service-now.com/nav_to.do?uri=%2Fsys_report_template.do%3Fjvar_report_id%3D609a17a5071395dc75b0f96d7c1ed077%26jvar_selected_chart_options_tab%3D%26jvar_report_home_query%3D%26jvar_selected_tab%3DmyReports" TargetMode="External"/><Relationship Id="rId4" Type="http://schemas.openxmlformats.org/officeDocument/2006/relationships/hyperlink" Target="https://pdsm.service-now.com/nav_to.do?uri=%2Fsys_report_template.do%3Fjvar_report_id%3D16eccd84db5f551cfc3523e813961962%26jvar_selected_tab%3DmyReports%26jvar_list_order_by%3D%26jvar_list_sort_direction%3D%26sysparm_reportquery%3D%26jvar_search_created_by%3D%26jvar_search_table%3D%26jvar_search_report_sys_id%3D%26jvar_report_home_query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FBB9D33F-20EA-467E-98E9-2A2D7C46B5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FBB9D33F-20EA-467E-98E9-2A2D7C46B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CD00DA-ACE4-404C-9326-D007DB824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A3D64-A9B0-4220-B6A3-276C4F64359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7D22C3"/>
                </a:solidFill>
                <a:effectLst/>
                <a:uLnTx/>
                <a:uFillTx/>
                <a:latin typeface="Fed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7D22C3"/>
              </a:solidFill>
              <a:effectLst/>
              <a:uLnTx/>
              <a:uFillTx/>
              <a:latin typeface="Fedex sans"/>
              <a:cs typeface="Arial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A0D31C-59DC-4E6D-B05C-D860ABBB7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ea typeface="Arial" charset="0"/>
                <a:cs typeface="Arial" charset="0"/>
              </a:rPr>
              <a:t>FedEx Proprietary and Confidential 2022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0FE9BD7-FDE2-4B57-9338-D6A30C45DF7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86050" y="0"/>
            <a:ext cx="9505950" cy="6858000"/>
          </a:xfrm>
          <a:custGeom>
            <a:avLst/>
            <a:gdLst>
              <a:gd name="connsiteX0" fmla="*/ 0 w 6743784"/>
              <a:gd name="connsiteY0" fmla="*/ 0 h 6869780"/>
              <a:gd name="connsiteX1" fmla="*/ 6743784 w 6743784"/>
              <a:gd name="connsiteY1" fmla="*/ 0 h 6869780"/>
              <a:gd name="connsiteX2" fmla="*/ 6743784 w 6743784"/>
              <a:gd name="connsiteY2" fmla="*/ 6869780 h 6869780"/>
              <a:gd name="connsiteX3" fmla="*/ 0 w 6743784"/>
              <a:gd name="connsiteY3" fmla="*/ 6869780 h 6869780"/>
              <a:gd name="connsiteX4" fmla="*/ 0 w 6743784"/>
              <a:gd name="connsiteY4" fmla="*/ 0 h 6869780"/>
              <a:gd name="connsiteX0" fmla="*/ 0 w 6743784"/>
              <a:gd name="connsiteY0" fmla="*/ 0 h 6869780"/>
              <a:gd name="connsiteX1" fmla="*/ 6743784 w 6743784"/>
              <a:gd name="connsiteY1" fmla="*/ 0 h 6869780"/>
              <a:gd name="connsiteX2" fmla="*/ 6743784 w 6743784"/>
              <a:gd name="connsiteY2" fmla="*/ 6869780 h 6869780"/>
              <a:gd name="connsiteX3" fmla="*/ 3363311 w 6743784"/>
              <a:gd name="connsiteY3" fmla="*/ 6869780 h 6869780"/>
              <a:gd name="connsiteX4" fmla="*/ 0 w 6743784"/>
              <a:gd name="connsiteY4" fmla="*/ 0 h 6869780"/>
              <a:gd name="connsiteX0" fmla="*/ 0 w 9506034"/>
              <a:gd name="connsiteY0" fmla="*/ 0 h 6888830"/>
              <a:gd name="connsiteX1" fmla="*/ 9506034 w 9506034"/>
              <a:gd name="connsiteY1" fmla="*/ 19050 h 6888830"/>
              <a:gd name="connsiteX2" fmla="*/ 9506034 w 9506034"/>
              <a:gd name="connsiteY2" fmla="*/ 6888830 h 6888830"/>
              <a:gd name="connsiteX3" fmla="*/ 6125561 w 9506034"/>
              <a:gd name="connsiteY3" fmla="*/ 6888830 h 6888830"/>
              <a:gd name="connsiteX4" fmla="*/ 0 w 9506034"/>
              <a:gd name="connsiteY4" fmla="*/ 0 h 688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6034" h="6888830">
                <a:moveTo>
                  <a:pt x="0" y="0"/>
                </a:moveTo>
                <a:lnTo>
                  <a:pt x="9506034" y="19050"/>
                </a:lnTo>
                <a:lnTo>
                  <a:pt x="9506034" y="6888830"/>
                </a:lnTo>
                <a:lnTo>
                  <a:pt x="6125561" y="68888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A0E5A3-1A39-4C25-97C4-2221DA6C7501}"/>
              </a:ext>
            </a:extLst>
          </p:cNvPr>
          <p:cNvSpPr/>
          <p:nvPr/>
        </p:nvSpPr>
        <p:spPr>
          <a:xfrm>
            <a:off x="2662633" y="0"/>
            <a:ext cx="9540000" cy="6876000"/>
          </a:xfrm>
          <a:custGeom>
            <a:avLst/>
            <a:gdLst>
              <a:gd name="connsiteX0" fmla="*/ 0 w 9508390"/>
              <a:gd name="connsiteY0" fmla="*/ 0 h 6888830"/>
              <a:gd name="connsiteX1" fmla="*/ 9508390 w 9508390"/>
              <a:gd name="connsiteY1" fmla="*/ 0 h 6888830"/>
              <a:gd name="connsiteX2" fmla="*/ 9508390 w 9508390"/>
              <a:gd name="connsiteY2" fmla="*/ 6888830 h 6888830"/>
              <a:gd name="connsiteX3" fmla="*/ 6129697 w 9508390"/>
              <a:gd name="connsiteY3" fmla="*/ 6888830 h 688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08390" h="6888830">
                <a:moveTo>
                  <a:pt x="0" y="0"/>
                </a:moveTo>
                <a:lnTo>
                  <a:pt x="9508390" y="0"/>
                </a:lnTo>
                <a:lnTo>
                  <a:pt x="9508390" y="6888830"/>
                </a:lnTo>
                <a:lnTo>
                  <a:pt x="6129697" y="6888830"/>
                </a:lnTo>
                <a:close/>
              </a:path>
            </a:pathLst>
          </a:custGeom>
          <a:gradFill flip="none" rotWithShape="1">
            <a:gsLst>
              <a:gs pos="100000">
                <a:srgbClr val="FF6600">
                  <a:alpha val="85000"/>
                </a:srgbClr>
              </a:gs>
              <a:gs pos="33000">
                <a:srgbClr val="7D22C3">
                  <a:alpha val="70000"/>
                </a:srgbClr>
              </a:gs>
              <a:gs pos="0">
                <a:srgbClr val="4D148C">
                  <a:alpha val="70000"/>
                </a:srgbClr>
              </a:gs>
            </a:gsLst>
            <a:lin ang="135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0ABA9D7-5DE1-4838-B6D4-CBDB639FD666}"/>
              </a:ext>
            </a:extLst>
          </p:cNvPr>
          <p:cNvSpPr txBox="1">
            <a:spLocks/>
          </p:cNvSpPr>
          <p:nvPr/>
        </p:nvSpPr>
        <p:spPr>
          <a:xfrm>
            <a:off x="1569242" y="4917425"/>
            <a:ext cx="5803710" cy="905306"/>
          </a:xfrm>
          <a:prstGeom prst="rect">
            <a:avLst/>
          </a:prstGeom>
        </p:spPr>
        <p:txBody>
          <a:bodyPr lIns="0" tIns="0" rIns="0" bIns="0">
            <a:normAutofit fontScale="4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 sz="20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2pPr>
            <a:lvl3pPr marL="164592" indent="-164592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3pPr>
            <a:lvl4pPr marL="457200" indent="-173736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–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4pPr>
            <a:lvl5pPr marL="850392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‣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8000" b="1" dirty="0">
                <a:solidFill>
                  <a:srgbClr val="333333"/>
                </a:solidFill>
                <a:latin typeface="Fedex sans"/>
              </a:rPr>
              <a:t>YOS – ROCS 2.0 L2 Support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9E31C-93F6-4949-9279-F0C26CA32A0D}"/>
              </a:ext>
            </a:extLst>
          </p:cNvPr>
          <p:cNvSpPr txBox="1">
            <a:spLocks/>
          </p:cNvSpPr>
          <p:nvPr/>
        </p:nvSpPr>
        <p:spPr>
          <a:xfrm>
            <a:off x="1569242" y="5949709"/>
            <a:ext cx="5066690" cy="251066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 sz="20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2pPr>
            <a:lvl3pPr marL="164592" indent="-164592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3pPr>
            <a:lvl4pPr marL="457200" indent="-173736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–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4pPr>
            <a:lvl5pPr marL="850392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‣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noProof="0" dirty="0">
                <a:solidFill>
                  <a:srgbClr val="333333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Date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 22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nd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 November 2022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BAC157-6784-496C-9AAE-190D76F325A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54332" y="2010693"/>
            <a:ext cx="408610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031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26427" y="1127717"/>
            <a:ext cx="11440158" cy="3994616"/>
          </a:xfrm>
        </p:spPr>
        <p:txBody>
          <a:bodyPr/>
          <a:lstStyle/>
          <a:p>
            <a:pPr lvl="0" algn="just">
              <a:buClr>
                <a:srgbClr val="4D148C"/>
              </a:buClr>
              <a:defRPr/>
            </a:pPr>
            <a:r>
              <a:rPr lang="en-US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Support Optimization &amp; Adoption of CC Based Model</a:t>
            </a:r>
          </a:p>
          <a:p>
            <a:pPr lvl="0" algn="just">
              <a:buClr>
                <a:srgbClr val="4D148C"/>
              </a:buClr>
              <a:defRPr/>
            </a:pPr>
            <a:endParaRPr lang="en-US" b="1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Application owner would like a ‘Competency Center’ approach for YOS and ROCS 2.0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These applications are more critical as these would appear now, Tier rating is currently reduced to 3, however doesn’t correlate the impact on operations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YOS and ROCS (Legacy application) are closely related, therefore one support team for both applications would be best suited to avoid multiple hops for critical sites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r>
              <a:rPr lang="en-US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Which Team? - HubStack Competency Center</a:t>
            </a:r>
          </a:p>
          <a:p>
            <a:pPr lvl="0" algn="just">
              <a:buClr>
                <a:srgbClr val="4D148C"/>
              </a:buClr>
              <a:defRPr/>
            </a:pPr>
            <a:endParaRPr lang="en-US" b="1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Years of experience in communicating with Hubs and working on critical services used in Hubs across EU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ROCS2.0 and YOS are part of the portfolio of Thomas Vanparys, similar to the HubStack applications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The HSCC and MISCCP team are already working together on data related issues – example TRIP to ROCS data issues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6427" y="497621"/>
            <a:ext cx="11448000" cy="462143"/>
          </a:xfrm>
        </p:spPr>
        <p:txBody>
          <a:bodyPr/>
          <a:lstStyle/>
          <a:p>
            <a:r>
              <a:rPr lang="en-US" sz="2400" dirty="0"/>
              <a:t>Problem Statement: Support Model Enhancement &amp;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A3D64-A9B0-4220-B6A3-276C4F64359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Fedex sans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ea typeface="Arial" charset="0"/>
                <a:cs typeface="Arial" charset="0"/>
              </a:rPr>
              <a:t>FedEx Proprietary and Confidential 2021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8559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80366" y="922788"/>
            <a:ext cx="11523611" cy="5598457"/>
          </a:xfrm>
        </p:spPr>
        <p:txBody>
          <a:bodyPr/>
          <a:lstStyle/>
          <a:p>
            <a:pPr lvl="0" algn="just">
              <a:buClr>
                <a:srgbClr val="4D148C"/>
              </a:buClr>
              <a:defRPr/>
            </a:pPr>
            <a:r>
              <a:rPr lang="en-US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YOS</a:t>
            </a: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 -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Yard Operations System (EAI – 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3535360, Tier 3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lvl="0" algn="just">
              <a:buClr>
                <a:srgbClr val="4D148C"/>
              </a:buClr>
              <a:defRPr/>
            </a:pPr>
            <a:endParaRPr lang="en-GB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YOS is an internal developed Solution for managing hub and yard operations at Express hubs in Europe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Currently 5 sites live. This will be increased to 10 sites over the next months (</a:t>
            </a:r>
            <a:r>
              <a:rPr lang="en-US" b="1" u="sng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possible upcoming implementation at CDG, already supported mainly by HSCC</a:t>
            </a: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)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95 tickets raised over the last three months</a:t>
            </a:r>
          </a:p>
          <a:p>
            <a:pPr marL="465750" lvl="1" indent="-285750" algn="just"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89 user incidents </a:t>
            </a:r>
          </a:p>
          <a:p>
            <a:pPr marL="465750" lvl="1" indent="-285750" algn="just"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6 event/alert tickets</a:t>
            </a:r>
          </a:p>
          <a:p>
            <a:pPr marL="465750" lvl="1" indent="-285750" algn="just"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Manual monitoring is performed (every 3 Hours), possibility to integrate and automate this with existing EU Application dashboard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r>
              <a:rPr lang="en-US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ROCS - </a:t>
            </a:r>
            <a:r>
              <a:rPr lang="en-GB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Road Operations Control Systems (EAI – 3538711, Tier 3)</a:t>
            </a:r>
          </a:p>
          <a:p>
            <a:pPr algn="just">
              <a:buClr>
                <a:srgbClr val="4D148C"/>
              </a:buClr>
              <a:defRPr/>
            </a:pPr>
            <a:endParaRPr lang="en-GB" b="1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465750" marR="0" lvl="1" indent="-285750" algn="just">
              <a:lnSpc>
                <a:spcPct val="115000"/>
              </a:lnSpc>
              <a:buClr>
                <a:srgbClr val="4D148C"/>
              </a:buClr>
              <a:defRPr/>
            </a:pPr>
            <a:r>
              <a:rPr lang="en-GB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LEGACY ROCS is a Common System in FedEx (Legacy TNT) which is used to manage the Linehaul movements on TNT Road Network. </a:t>
            </a: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465750" marR="0" lvl="1" indent="-285750" algn="just">
              <a:lnSpc>
                <a:spcPct val="115000"/>
              </a:lnSpc>
              <a:buClr>
                <a:srgbClr val="4D148C"/>
              </a:buClr>
              <a:defRPr/>
            </a:pPr>
            <a:r>
              <a:rPr lang="en-GB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ROCS Plan 2.0 is a new Tier 2 application (cloud-based) and accessed via the web, which will ultimately replace legacy ROCS Plan (currently not in use), </a:t>
            </a: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User base is expected to be EU Only with a phased deployment plan</a:t>
            </a:r>
          </a:p>
          <a:p>
            <a:pPr marL="465750" marR="0" lvl="1" indent="-285750" algn="just">
              <a:lnSpc>
                <a:spcPct val="115000"/>
              </a:lnSpc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268 tickets related to ROCS raised over the last three months. 258 raised via SSP and 10 via email or phone</a:t>
            </a:r>
          </a:p>
          <a:p>
            <a:pPr marL="465750" lvl="1" indent="-285750" algn="just"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64 of these tickets have been resolved by the MISCCP team</a:t>
            </a:r>
          </a:p>
          <a:p>
            <a:pPr marL="465750" lvl="1" indent="-285750" algn="just">
              <a:buClr>
                <a:srgbClr val="4D148C"/>
              </a:buClr>
              <a:defRPr/>
            </a:pPr>
            <a:r>
              <a:rPr lang="en-US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10 SSP tickets relate to ROCS Plan. ROCS 2.0 Plan functionality will be rolled out first starting 2023</a:t>
            </a:r>
          </a:p>
          <a:p>
            <a:pPr marL="285750" lvl="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285750" indent="-285750" algn="just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6427" y="336754"/>
            <a:ext cx="11448000" cy="462143"/>
          </a:xfrm>
        </p:spPr>
        <p:txBody>
          <a:bodyPr/>
          <a:lstStyle/>
          <a:p>
            <a:r>
              <a:rPr lang="en-GB" dirty="0"/>
              <a:t>Applications – Overview &amp; Ticket Volumes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A3D64-A9B0-4220-B6A3-276C4F64359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Fedex sans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ea typeface="Arial" charset="0"/>
                <a:cs typeface="Arial" charset="0"/>
              </a:rPr>
              <a:t>FedEx Proprietary and Confidential 2021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2545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2575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523EA3-C77F-42EA-8704-DEFEF028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634"/>
            <a:ext cx="4114800" cy="365125"/>
          </a:xfrm>
        </p:spPr>
        <p:txBody>
          <a:bodyPr/>
          <a:lstStyle/>
          <a:p>
            <a:r>
              <a:rPr lang="en-US" sz="1067" dirty="0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5E63E-F4EB-4754-A7D0-B36D966B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213" y="6495951"/>
            <a:ext cx="2743200" cy="365125"/>
          </a:xfrm>
        </p:spPr>
        <p:txBody>
          <a:bodyPr/>
          <a:lstStyle/>
          <a:p>
            <a:fld id="{83792E6B-00B6-F840-9643-4D74B9E7D643}" type="slidenum">
              <a:rPr lang="en-US" sz="1067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pPr/>
              <a:t>5</a:t>
            </a:fld>
            <a:endParaRPr lang="en-US" sz="1067" dirty="0"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0418F6-A51F-4650-B059-D1D1EED20718}"/>
              </a:ext>
            </a:extLst>
          </p:cNvPr>
          <p:cNvSpPr txBox="1">
            <a:spLocks/>
          </p:cNvSpPr>
          <p:nvPr/>
        </p:nvSpPr>
        <p:spPr>
          <a:xfrm>
            <a:off x="233262" y="257029"/>
            <a:ext cx="11725484" cy="50613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667" dirty="0">
                <a:solidFill>
                  <a:schemeClr val="tx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Ticket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F2048-BDC6-4BA0-A2DC-C0B9480BF13A}"/>
              </a:ext>
            </a:extLst>
          </p:cNvPr>
          <p:cNvSpPr txBox="1"/>
          <p:nvPr/>
        </p:nvSpPr>
        <p:spPr>
          <a:xfrm>
            <a:off x="318782" y="1057013"/>
            <a:ext cx="100164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Links </a:t>
            </a:r>
            <a:r>
              <a:rPr lang="en-US" sz="2000" dirty="0"/>
              <a:t>to data:</a:t>
            </a:r>
          </a:p>
          <a:p>
            <a:pPr marL="274320" indent="-274320">
              <a:buFont typeface="Arial" pitchFamily="34" charset="0"/>
              <a:buChar char="•"/>
            </a:pPr>
            <a:r>
              <a:rPr lang="en-US" sz="2000" dirty="0">
                <a:latin typeface="+mn-lt"/>
                <a:hlinkClick r:id="rId2"/>
              </a:rPr>
              <a:t>ROCS tickets – Last three months</a:t>
            </a:r>
            <a:endParaRPr lang="en-US" sz="2000" dirty="0">
              <a:latin typeface="+mn-lt"/>
            </a:endParaRPr>
          </a:p>
          <a:p>
            <a:pPr marL="274320" indent="-274320">
              <a:buFont typeface="Arial" pitchFamily="34" charset="0"/>
              <a:buChar char="•"/>
            </a:pPr>
            <a:r>
              <a:rPr lang="en-US" sz="2000" dirty="0">
                <a:hlinkClick r:id="rId3"/>
              </a:rPr>
              <a:t>YOS tickets – Last three months</a:t>
            </a:r>
            <a:endParaRPr lang="en-US" sz="2000" dirty="0"/>
          </a:p>
          <a:p>
            <a:pPr marL="274320" indent="-274320">
              <a:buFont typeface="Arial" pitchFamily="34" charset="0"/>
              <a:buChar char="•"/>
            </a:pPr>
            <a:endParaRPr lang="en-US" sz="2000" b="1" dirty="0"/>
          </a:p>
          <a:p>
            <a:pPr marL="274320" indent="-274320">
              <a:buFont typeface="Arial" pitchFamily="34" charset="0"/>
              <a:buChar char="•"/>
            </a:pPr>
            <a:endParaRPr lang="en-US" sz="2000" b="1" dirty="0"/>
          </a:p>
          <a:p>
            <a:pPr marL="274320" indent="-274320">
              <a:buFont typeface="Arial" pitchFamily="34" charset="0"/>
              <a:buChar char="•"/>
            </a:pPr>
            <a:endParaRPr lang="en-US" sz="2000" b="1" dirty="0"/>
          </a:p>
          <a:p>
            <a:r>
              <a:rPr lang="en-US" sz="2000" dirty="0"/>
              <a:t>SSP reports used:</a:t>
            </a:r>
          </a:p>
          <a:p>
            <a:r>
              <a:rPr lang="en-US" sz="2000" dirty="0"/>
              <a:t>- </a:t>
            </a:r>
            <a:r>
              <a:rPr lang="en-US" sz="2000" dirty="0">
                <a:hlinkClick r:id="rId4"/>
              </a:rPr>
              <a:t>ROCS tickets – Last three months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en-US" sz="2000" dirty="0">
                <a:hlinkClick r:id="rId5"/>
              </a:rPr>
              <a:t>YOS Tickets – Last three months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n-US" sz="2000" b="1" dirty="0"/>
              <a:t>	</a:t>
            </a:r>
            <a:endParaRPr lang="en-US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3463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0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2.xml><?xml version="1.0" encoding="utf-8"?>
<a:theme xmlns:a="http://schemas.openxmlformats.org/drawingml/2006/main" name="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3.xml><?xml version="1.0" encoding="utf-8"?>
<a:theme xmlns:a="http://schemas.openxmlformats.org/drawingml/2006/main" name="11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4.xml><?xml version="1.0" encoding="utf-8"?>
<a:theme xmlns:a="http://schemas.openxmlformats.org/drawingml/2006/main" name="1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5889446D40D34A95DEFD30EB24086F" ma:contentTypeVersion="9" ma:contentTypeDescription="Create a new document." ma:contentTypeScope="" ma:versionID="ef4e82220d36808af9f5d2504f04419b">
  <xsd:schema xmlns:xsd="http://www.w3.org/2001/XMLSchema" xmlns:xs="http://www.w3.org/2001/XMLSchema" xmlns:p="http://schemas.microsoft.com/office/2006/metadata/properties" xmlns:ns3="b95f2413-1e50-4057-86d2-1dac4281e92e" xmlns:ns4="29202fb3-dfee-40f9-904f-b8408577a4d5" targetNamespace="http://schemas.microsoft.com/office/2006/metadata/properties" ma:root="true" ma:fieldsID="b415134c0452277b6a0e7831ae493edb" ns3:_="" ns4:_="">
    <xsd:import namespace="b95f2413-1e50-4057-86d2-1dac4281e92e"/>
    <xsd:import namespace="29202fb3-dfee-40f9-904f-b8408577a4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f2413-1e50-4057-86d2-1dac4281e9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02fb3-dfee-40f9-904f-b8408577a4d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F74ECA-7E0E-4844-AC88-B914D840CA78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29202fb3-dfee-40f9-904f-b8408577a4d5"/>
    <ds:schemaRef ds:uri="http://schemas.openxmlformats.org/package/2006/metadata/core-properties"/>
    <ds:schemaRef ds:uri="b95f2413-1e50-4057-86d2-1dac4281e92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2698EE2-0762-49BC-A6F5-15D9267D8C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5f2413-1e50-4057-86d2-1dac4281e92e"/>
    <ds:schemaRef ds:uri="29202fb3-dfee-40f9-904f-b8408577a4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C9F7F2-4D93-462C-8FCA-BDB3AF3D90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44035</TotalTime>
  <Words>452</Words>
  <Application>Microsoft Office PowerPoint</Application>
  <PresentationFormat>Widescreen</PresentationFormat>
  <Paragraphs>63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10_FedEx Master</vt:lpstr>
      <vt:lpstr>FedEx Master</vt:lpstr>
      <vt:lpstr>11_FedEx Master</vt:lpstr>
      <vt:lpstr>1_FedEx Master</vt:lpstr>
      <vt:lpstr>PowerPoint Presentation</vt:lpstr>
      <vt:lpstr>Problem Statement: Support Model Enhancement &amp; Optimization</vt:lpstr>
      <vt:lpstr>Applications – Overview &amp; Ticket Volumes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STING – All EPICs | E2E Test Summary</dc:title>
  <dc:creator>Olga Flerkevitch</dc:creator>
  <cp:lastModifiedBy>Paul Blom</cp:lastModifiedBy>
  <cp:revision>157</cp:revision>
  <dcterms:created xsi:type="dcterms:W3CDTF">2022-07-06T06:51:23Z</dcterms:created>
  <dcterms:modified xsi:type="dcterms:W3CDTF">2023-03-13T09:43:20Z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0x010100F35889446D40D34A95DEFD30EB24086F</vt:lpwstr>
  </property>
</Properties>
</file>